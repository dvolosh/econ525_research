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mbria" panose="02040503050406030204" pitchFamily="18" charset="0"/>
      <p:regular r:id="rId19"/>
      <p:bold r:id="rId20"/>
      <p:italic r:id="rId21"/>
    </p:embeddedFont>
    <p:embeddedFont>
      <p:font typeface="Lato" panose="020F0502020204030204" pitchFamily="34" charset="0"/>
      <p:regular r:id="rId22"/>
      <p:bold r:id="rId23"/>
      <p:italic r:id="rId24"/>
      <p:boldItalic r:id="rId25"/>
    </p:embeddedFont>
    <p:embeddedFont>
      <p:font typeface="Poppins" panose="020B0502040204020203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7EEC78-3C46-466A-AEB7-87BE7430BD34}">
  <a:tblStyle styleId="{8D7EEC78-3C46-466A-AEB7-87BE7430BD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bbf983b88_0_114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bbf983b88_0_32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bbf983b88_0_1854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bbf983b88_0_232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bbf983b88_0_275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bbf983b88_0_3548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bbf983b88_0_2976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bbf983b88_0_316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bbf983b88_7_0)">
  <p:cSld name="Generated (g3dbbf983b88_7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1886775" y="3055375"/>
            <a:ext cx="8184900" cy="12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HMI as a Leading Indicator for REIT Liquidity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762000" y="571500"/>
            <a:ext cx="10668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Presentation Overview</a:t>
            </a:r>
            <a:endParaRPr sz="27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6" name="Google Shape;96;p15"/>
          <p:cNvGrpSpPr/>
          <p:nvPr/>
        </p:nvGrpSpPr>
        <p:grpSpPr>
          <a:xfrm>
            <a:off x="571500" y="1524000"/>
            <a:ext cx="3429000" cy="1143000"/>
            <a:chOff x="571500" y="1524000"/>
            <a:chExt cx="3429000" cy="1143000"/>
          </a:xfrm>
        </p:grpSpPr>
        <p:sp>
          <p:nvSpPr>
            <p:cNvPr id="97" name="Google Shape;97;p15"/>
            <p:cNvSpPr/>
            <p:nvPr/>
          </p:nvSpPr>
          <p:spPr>
            <a:xfrm>
              <a:off x="571500" y="1524000"/>
              <a:ext cx="3429000" cy="11430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71500" y="1524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32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Motivation &amp; Literature</a:t>
              </a:r>
              <a:endParaRPr sz="16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4381500" y="1524000"/>
            <a:ext cx="3429000" cy="1143000"/>
            <a:chOff x="4381500" y="1524000"/>
            <a:chExt cx="3429000" cy="1143000"/>
          </a:xfrm>
        </p:grpSpPr>
        <p:sp>
          <p:nvSpPr>
            <p:cNvPr id="100" name="Google Shape;100;p15"/>
            <p:cNvSpPr/>
            <p:nvPr/>
          </p:nvSpPr>
          <p:spPr>
            <a:xfrm>
              <a:off x="4381500" y="1524000"/>
              <a:ext cx="3429000" cy="11430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4381500" y="1524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32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Research Design</a:t>
              </a:r>
              <a:endParaRPr sz="16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8191500" y="1524000"/>
            <a:ext cx="3429000" cy="1143000"/>
            <a:chOff x="8191500" y="1524000"/>
            <a:chExt cx="3429000" cy="1143000"/>
          </a:xfrm>
        </p:grpSpPr>
        <p:sp>
          <p:nvSpPr>
            <p:cNvPr id="103" name="Google Shape;103;p15"/>
            <p:cNvSpPr/>
            <p:nvPr/>
          </p:nvSpPr>
          <p:spPr>
            <a:xfrm>
              <a:off x="8191500" y="1524000"/>
              <a:ext cx="3429000" cy="11430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8191500" y="1524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32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Data</a:t>
              </a:r>
              <a:endParaRPr sz="16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571500" y="3048000"/>
            <a:ext cx="3429000" cy="1143000"/>
            <a:chOff x="571500" y="3048000"/>
            <a:chExt cx="3429000" cy="1143000"/>
          </a:xfrm>
        </p:grpSpPr>
        <p:sp>
          <p:nvSpPr>
            <p:cNvPr id="106" name="Google Shape;106;p15"/>
            <p:cNvSpPr/>
            <p:nvPr/>
          </p:nvSpPr>
          <p:spPr>
            <a:xfrm>
              <a:off x="571500" y="3048000"/>
              <a:ext cx="3429000" cy="11430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571500" y="3048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32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Methodology</a:t>
              </a:r>
              <a:endParaRPr sz="16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4381500" y="3048000"/>
            <a:ext cx="3429000" cy="1143000"/>
            <a:chOff x="4381500" y="3048000"/>
            <a:chExt cx="3429000" cy="1143000"/>
          </a:xfrm>
        </p:grpSpPr>
        <p:sp>
          <p:nvSpPr>
            <p:cNvPr id="109" name="Google Shape;109;p15"/>
            <p:cNvSpPr/>
            <p:nvPr/>
          </p:nvSpPr>
          <p:spPr>
            <a:xfrm>
              <a:off x="4381500" y="3048000"/>
              <a:ext cx="3429000" cy="11430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4381500" y="3048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sz="32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Results</a:t>
              </a:r>
              <a:endParaRPr sz="16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8191500" y="3048000"/>
            <a:ext cx="3429000" cy="1143000"/>
            <a:chOff x="8191500" y="3048000"/>
            <a:chExt cx="3429000" cy="1143000"/>
          </a:xfrm>
        </p:grpSpPr>
        <p:sp>
          <p:nvSpPr>
            <p:cNvPr id="112" name="Google Shape;112;p15"/>
            <p:cNvSpPr/>
            <p:nvPr/>
          </p:nvSpPr>
          <p:spPr>
            <a:xfrm>
              <a:off x="8191500" y="3048000"/>
              <a:ext cx="3429000" cy="11430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8191500" y="3048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06</a:t>
              </a:r>
              <a:endParaRPr sz="32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Interpretations &amp; Limitations</a:t>
              </a:r>
              <a:endParaRPr sz="16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4381500" y="4572000"/>
            <a:ext cx="3429000" cy="1143000"/>
            <a:chOff x="4381500" y="4572000"/>
            <a:chExt cx="3429000" cy="1143000"/>
          </a:xfrm>
        </p:grpSpPr>
        <p:sp>
          <p:nvSpPr>
            <p:cNvPr id="115" name="Google Shape;115;p15"/>
            <p:cNvSpPr/>
            <p:nvPr/>
          </p:nvSpPr>
          <p:spPr>
            <a:xfrm>
              <a:off x="4381500" y="4572000"/>
              <a:ext cx="3429000" cy="1143000"/>
            </a:xfrm>
            <a:prstGeom prst="roundRect">
              <a:avLst>
                <a:gd name="adj" fmla="val 12500"/>
              </a:avLst>
            </a:prstGeom>
            <a:solidFill>
              <a:srgbClr val="13294B"/>
            </a:solidFill>
            <a:ln w="19050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4381500" y="4572000"/>
              <a:ext cx="34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07</a:t>
              </a:r>
              <a:endParaRPr sz="32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Conclusions &amp; Future Research</a:t>
              </a:r>
              <a:endParaRPr sz="16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A high-quality, professional wide-angle shot of a modern city skyline at dusk with glowing skyscrapers reflecting in a calm river, symbolizing the urban real estate market and financial centers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524000"/>
            <a:ext cx="5334000" cy="4000500"/>
          </a:xfrm>
          <a:prstGeom prst="roundRect">
            <a:avLst>
              <a:gd name="adj" fmla="val 3571"/>
            </a:avLst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1524000"/>
            <a:ext cx="5334000" cy="34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Why Real Estate Investment Trusts?</a:t>
            </a:r>
            <a:endParaRPr sz="222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1500" y="2176000"/>
            <a:ext cx="5334000" cy="2473800"/>
          </a:xfrm>
          <a:prstGeom prst="roundRect">
            <a:avLst>
              <a:gd name="adj" fmla="val 652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2318875"/>
            <a:ext cx="4953000" cy="42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8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Regulatory Constraints (26 U.S.C. §857):</a:t>
            </a:r>
            <a:r>
              <a:rPr lang="en-US" sz="1388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REITs must distribute 90% of taxable income, preventing internal capital accumulation.</a:t>
            </a:r>
            <a:endParaRPr sz="1388" b="1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2938000"/>
            <a:ext cx="4953000" cy="143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Lato"/>
              <a:buChar char="●"/>
            </a:pPr>
            <a:r>
              <a:rPr lang="en-US" sz="13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High dependency on public equity/debt markets for growth.</a:t>
            </a:r>
            <a:endParaRPr sz="13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REITs retain minimal earnings for tackling financing disruptions</a:t>
            </a:r>
            <a:endParaRPr sz="13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Unlike typical firms, REITs must perpetually access public debt and equity markets to fund operations</a:t>
            </a:r>
            <a:endParaRPr sz="130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300"/>
              <a:buFont typeface="Lato"/>
              <a:buChar char="●"/>
            </a:pPr>
            <a:r>
              <a:rPr lang="en-US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High</a:t>
            </a:r>
            <a:r>
              <a:rPr lang="en-US" sz="13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sensitivity to external liquidity "dry-ups."</a:t>
            </a:r>
            <a:endParaRPr sz="13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Motivation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62000" y="571500"/>
            <a:ext cx="10668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Literature Review</a:t>
            </a:r>
            <a:endParaRPr sz="27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4" name="Google Shape;134;p17"/>
          <p:cNvGrpSpPr/>
          <p:nvPr/>
        </p:nvGrpSpPr>
        <p:grpSpPr>
          <a:xfrm>
            <a:off x="571500" y="1524000"/>
            <a:ext cx="5238900" cy="2333700"/>
            <a:chOff x="0" y="0"/>
            <a:chExt cx="5238900" cy="2333700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0"/>
              <a:ext cx="5238900" cy="2333700"/>
            </a:xfrm>
            <a:prstGeom prst="roundRect">
              <a:avLst>
                <a:gd name="adj" fmla="val 4081"/>
              </a:avLst>
            </a:prstGeom>
            <a:solidFill>
              <a:srgbClr val="FFFFFF">
                <a:alpha val="90000"/>
              </a:srgbClr>
            </a:solidFill>
            <a:ln w="477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19050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Market Liquidity Spirals</a:t>
              </a:r>
              <a:endParaRPr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190500" y="571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Brunnermeier and Pedersen (2009)</a:t>
              </a:r>
              <a:endParaRPr sz="14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190500" y="952500"/>
              <a:ext cx="485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When market illiquidity arises, this can trigger a feedback loop of liquidity spiraling, where funding and market liquidity reinforce each other's decline.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6381750" y="1524000"/>
            <a:ext cx="5238900" cy="2333700"/>
            <a:chOff x="0" y="0"/>
            <a:chExt cx="5238900" cy="2333700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5238900" cy="2333700"/>
            </a:xfrm>
            <a:prstGeom prst="roundRect">
              <a:avLst>
                <a:gd name="adj" fmla="val 4081"/>
              </a:avLst>
            </a:prstGeom>
            <a:solidFill>
              <a:srgbClr val="FFFFFF">
                <a:alpha val="90000"/>
              </a:srgbClr>
            </a:solidFill>
            <a:ln w="477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9050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Sentiment &amp; Performance</a:t>
              </a:r>
              <a:endParaRPr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190500" y="571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Hadad, Le, and Luong (2024)</a:t>
              </a:r>
              <a:endParaRPr sz="14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190500" y="952500"/>
              <a:ext cx="485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REITs transmit and receive shocks driven by shocks in sentiment.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Study limited to equity performance rather than broader liquidity metrics.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571500" y="4143375"/>
            <a:ext cx="5238900" cy="2333700"/>
            <a:chOff x="0" y="0"/>
            <a:chExt cx="5238900" cy="2333700"/>
          </a:xfrm>
        </p:grpSpPr>
        <p:sp>
          <p:nvSpPr>
            <p:cNvPr id="145" name="Google Shape;145;p17"/>
            <p:cNvSpPr/>
            <p:nvPr/>
          </p:nvSpPr>
          <p:spPr>
            <a:xfrm>
              <a:off x="0" y="0"/>
              <a:ext cx="5238900" cy="2333700"/>
            </a:xfrm>
            <a:prstGeom prst="roundRect">
              <a:avLst>
                <a:gd name="adj" fmla="val 4081"/>
              </a:avLst>
            </a:prstGeom>
            <a:solidFill>
              <a:srgbClr val="FFFFFF">
                <a:alpha val="90000"/>
              </a:srgbClr>
            </a:solidFill>
            <a:ln w="477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19050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Property Market Links</a:t>
              </a:r>
              <a:endParaRPr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190500" y="571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Downs and Zhu (2022)</a:t>
              </a:r>
              <a:endParaRPr sz="14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190500" y="952500"/>
              <a:ext cx="485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Liquidity in REITs impacted by local real estate markets.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Study limited to property market liquidity specifically.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6381750" y="4143375"/>
            <a:ext cx="5238900" cy="2333700"/>
            <a:chOff x="0" y="0"/>
            <a:chExt cx="5238900" cy="233370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5238900" cy="2333700"/>
            </a:xfrm>
            <a:prstGeom prst="roundRect">
              <a:avLst>
                <a:gd name="adj" fmla="val 4081"/>
              </a:avLst>
            </a:prstGeom>
            <a:solidFill>
              <a:srgbClr val="FFFFFF">
                <a:alpha val="90000"/>
              </a:srgbClr>
            </a:solidFill>
            <a:ln w="477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19050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Macroeconomic Variables</a:t>
              </a:r>
              <a:endParaRPr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190500" y="571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Glascock and Lu-Andrews (2014)</a:t>
              </a:r>
              <a:endParaRPr sz="14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190500" y="952500"/>
              <a:ext cx="485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REIT liquidity affected by macroeconomic variables.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Study limited to inflation and interest rates as primary drivers.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1225"/>
            <a:ext cx="5334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81225"/>
            <a:ext cx="5334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50101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"Is the HMI signal a housing-specific channel or a broad macro-proxy?"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57250" y="3152775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Residential Group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57250" y="367665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Focused on housing assets (ESS, UDR, MAA, CPT). Theoretically directly linked to HMI sentiment.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572250" y="3152775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Non-Residential Group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572250" y="367665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Infrastructure &amp; Logistics assets (AMT, EQIX, PLD). Serves as a baseline for macro-systemic shocks.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5431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2543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Research Question. </a:t>
            </a:r>
            <a:r>
              <a:rPr lang="en-US" sz="27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Comparative Research Framework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571500"/>
            <a:ext cx="10668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Data Sources</a:t>
            </a:r>
            <a:endParaRPr sz="27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5" name="Google Shape;175;p19"/>
          <p:cNvGrpSpPr/>
          <p:nvPr/>
        </p:nvGrpSpPr>
        <p:grpSpPr>
          <a:xfrm>
            <a:off x="571500" y="1523999"/>
            <a:ext cx="3619637" cy="3370207"/>
            <a:chOff x="352509" y="-704385"/>
            <a:chExt cx="3408000" cy="3480900"/>
          </a:xfrm>
        </p:grpSpPr>
        <p:sp>
          <p:nvSpPr>
            <p:cNvPr id="176" name="Google Shape;176;p19"/>
            <p:cNvSpPr/>
            <p:nvPr/>
          </p:nvSpPr>
          <p:spPr>
            <a:xfrm>
              <a:off x="352509" y="-704385"/>
              <a:ext cx="3408000" cy="3480900"/>
            </a:xfrm>
            <a:prstGeom prst="roundRect">
              <a:avLst>
                <a:gd name="adj" fmla="val 3157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531871" y="-538632"/>
              <a:ext cx="3049200" cy="3149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Financial &amp; Market Data</a:t>
              </a:r>
              <a:endParaRPr sz="19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CRSP (WRDS)</a:t>
              </a:r>
              <a:endParaRPr sz="15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4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Daily returns, prices, share volume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4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Computed Amihud illiquidity ratio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Compustat (WRDS)</a:t>
              </a:r>
              <a:endParaRPr sz="15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4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Annual Firm Fundamentals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4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Total Assets &amp; Total Liabilities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78" name="Google Shape;178;p19"/>
          <p:cNvGrpSpPr/>
          <p:nvPr/>
        </p:nvGrpSpPr>
        <p:grpSpPr>
          <a:xfrm>
            <a:off x="4286250" y="1524000"/>
            <a:ext cx="3619637" cy="3370207"/>
            <a:chOff x="135497" y="-704385"/>
            <a:chExt cx="3408000" cy="3480900"/>
          </a:xfrm>
        </p:grpSpPr>
        <p:sp>
          <p:nvSpPr>
            <p:cNvPr id="179" name="Google Shape;179;p19"/>
            <p:cNvSpPr/>
            <p:nvPr/>
          </p:nvSpPr>
          <p:spPr>
            <a:xfrm>
              <a:off x="135497" y="-704385"/>
              <a:ext cx="3408000" cy="3480900"/>
            </a:xfrm>
            <a:prstGeom prst="roundRect">
              <a:avLst>
                <a:gd name="adj" fmla="val 3157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314858" y="-538632"/>
              <a:ext cx="3049200" cy="3149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Macro &amp; Sentiment Indicators</a:t>
              </a:r>
              <a:endParaRPr sz="19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NAHB HMI:</a:t>
              </a: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Home builders sentiment index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10-yr Treasury Yield:</a:t>
              </a: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Risk-free rate (FRED)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VIX Index:</a:t>
              </a: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 Market fear gauge (YFinance)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Sample Period</a:t>
              </a:r>
              <a:endParaRPr sz="12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900" b="1">
                  <a:solidFill>
                    <a:srgbClr val="13294B"/>
                  </a:solidFill>
                  <a:latin typeface="Lato"/>
                  <a:ea typeface="Lato"/>
                  <a:cs typeface="Lato"/>
                  <a:sym typeface="Lato"/>
                </a:rPr>
                <a:t>Aug 2000 — Dec 2024</a:t>
              </a:r>
              <a:endParaRPr sz="19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N = 1,752 firm-month observations</a:t>
              </a:r>
              <a:endParaRPr sz="13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8001000" y="1524000"/>
            <a:ext cx="3619637" cy="3370207"/>
            <a:chOff x="-81516" y="-704385"/>
            <a:chExt cx="3408000" cy="3480900"/>
          </a:xfrm>
        </p:grpSpPr>
        <p:sp>
          <p:nvSpPr>
            <p:cNvPr id="182" name="Google Shape;182;p19"/>
            <p:cNvSpPr/>
            <p:nvPr/>
          </p:nvSpPr>
          <p:spPr>
            <a:xfrm>
              <a:off x="-81516" y="-704385"/>
              <a:ext cx="3408000" cy="3480900"/>
            </a:xfrm>
            <a:prstGeom prst="roundRect">
              <a:avLst>
                <a:gd name="adj" fmla="val 3157"/>
              </a:avLst>
            </a:prstGeom>
            <a:solidFill>
              <a:srgbClr val="FFFFFF">
                <a:alpha val="90000"/>
              </a:srgbClr>
            </a:solidFill>
            <a:ln w="9525" cap="flat" cmpd="sng">
              <a:solidFill>
                <a:srgbClr val="7BAFD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97846" y="-538632"/>
              <a:ext cx="3049200" cy="3149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Asset Universe</a:t>
              </a:r>
              <a:endParaRPr sz="19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13294B"/>
                  </a:solidFill>
                  <a:latin typeface="Lato"/>
                  <a:ea typeface="Lato"/>
                  <a:cs typeface="Lato"/>
                  <a:sym typeface="Lato"/>
                </a:rPr>
                <a:t>Residential REITs</a:t>
              </a:r>
              <a:endParaRPr sz="15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ESS, UDR, MAA, CPT</a:t>
              </a:r>
              <a:endParaRPr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13294B"/>
                  </a:solidFill>
                  <a:latin typeface="Lato"/>
                  <a:ea typeface="Lato"/>
                  <a:cs typeface="Lato"/>
                  <a:sym typeface="Lato"/>
                </a:rPr>
                <a:t>Non-Residential REITs</a:t>
              </a:r>
              <a:endParaRPr sz="15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2000"/>
                </a:spcAft>
                <a:buNone/>
              </a:pPr>
              <a:r>
                <a:rPr lang="en-US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AMT, EQIX, PLD</a:t>
              </a:r>
              <a:endParaRPr sz="1300" b="0" i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571500"/>
            <a:ext cx="10668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Data Transformations</a:t>
            </a:r>
            <a:endParaRPr sz="27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1500" y="4150894"/>
            <a:ext cx="4000500" cy="690000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 cap="flat" cmpd="sng">
            <a:solidFill>
              <a:srgbClr val="7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3904944"/>
            <a:ext cx="39297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ILLIQ</a:t>
            </a:r>
            <a:r>
              <a:rPr lang="en-US" sz="10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i,t</a:t>
            </a:r>
            <a:r>
              <a:rPr lang="en-US" sz="18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 = </a:t>
            </a:r>
            <a:r>
              <a:rPr lang="en-US" sz="24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-US" sz="18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n-US" sz="10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8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i,t</a:t>
            </a:r>
            <a:r>
              <a:rPr lang="en-US" sz="18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 Σ |R</a:t>
            </a:r>
            <a:r>
              <a:rPr lang="en-US" sz="10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i,d,t</a:t>
            </a:r>
            <a:r>
              <a:rPr lang="en-US" sz="18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| / DVol</a:t>
            </a:r>
            <a:r>
              <a:rPr lang="en-US" sz="1000">
                <a:solidFill>
                  <a:srgbClr val="13294B"/>
                </a:solidFill>
                <a:latin typeface="Cambria"/>
                <a:ea typeface="Cambria"/>
                <a:cs typeface="Cambria"/>
                <a:sym typeface="Cambria"/>
              </a:rPr>
              <a:t>i,d,t</a:t>
            </a:r>
            <a:endParaRPr sz="1800">
              <a:solidFill>
                <a:srgbClr val="13294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857450" y="4150907"/>
            <a:ext cx="62865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00" b="0" i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Amihud (2002) proposes a measure of illiquidity, which is the daily ratio of absolute stock return to its dollar volume. This can be interpreted as </a:t>
            </a:r>
            <a:r>
              <a:rPr lang="en-US" sz="1100" b="0" i="1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“the daily price response associated with one dollar of trading volume, thus serving as a rough measure of price impact.”</a:t>
            </a:r>
            <a:endParaRPr sz="1100" b="1" i="0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762000" y="3765736"/>
            <a:ext cx="4762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Amihud Illiquidity Ratio</a:t>
            </a:r>
            <a:endParaRPr sz="14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857175" y="1624942"/>
            <a:ext cx="47625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Firm time varying controls</a:t>
            </a:r>
            <a:endParaRPr sz="14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857175" y="2054233"/>
            <a:ext cx="3333900" cy="1202017"/>
            <a:chOff x="0" y="0"/>
            <a:chExt cx="3333900" cy="1333500"/>
          </a:xfrm>
        </p:grpSpPr>
        <p:sp>
          <p:nvSpPr>
            <p:cNvPr id="195" name="Google Shape;195;p20"/>
            <p:cNvSpPr/>
            <p:nvPr/>
          </p:nvSpPr>
          <p:spPr>
            <a:xfrm>
              <a:off x="0" y="0"/>
              <a:ext cx="3333900" cy="1333500"/>
            </a:xfrm>
            <a:prstGeom prst="roundRect">
              <a:avLst>
                <a:gd name="adj" fmla="val 2857"/>
              </a:avLst>
            </a:prstGeom>
            <a:solidFill>
              <a:srgbClr val="F3F4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142875" y="1428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Size Control</a:t>
              </a:r>
              <a:endParaRPr sz="11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Natural logarithm of Total Assets</a:t>
              </a:r>
              <a:endParaRPr sz="11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300"/>
                </a:spcAft>
                <a:buNone/>
              </a:pPr>
              <a:r>
                <a:rPr lang="en-US" sz="900" b="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Captures firm-specific scale effects on liquidity depth.</a:t>
              </a:r>
              <a:endParaRPr sz="900" b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4429050" y="2054233"/>
            <a:ext cx="3333900" cy="1202017"/>
            <a:chOff x="0" y="0"/>
            <a:chExt cx="3333900" cy="1333500"/>
          </a:xfrm>
        </p:grpSpPr>
        <p:sp>
          <p:nvSpPr>
            <p:cNvPr id="198" name="Google Shape;198;p20"/>
            <p:cNvSpPr/>
            <p:nvPr/>
          </p:nvSpPr>
          <p:spPr>
            <a:xfrm>
              <a:off x="0" y="0"/>
              <a:ext cx="3333900" cy="1333500"/>
            </a:xfrm>
            <a:prstGeom prst="roundRect">
              <a:avLst>
                <a:gd name="adj" fmla="val 2857"/>
              </a:avLst>
            </a:prstGeom>
            <a:solidFill>
              <a:srgbClr val="F3F4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142875" y="1428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Leverage Control</a:t>
              </a:r>
              <a:endParaRPr sz="11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Ratio: Total Liabilities / Total Assets</a:t>
              </a:r>
              <a:endParaRPr sz="11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300"/>
                </a:spcAft>
                <a:buNone/>
              </a:pPr>
              <a:r>
                <a:rPr lang="en-US" sz="900" b="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Proxies for financial distress and balance sheet constraints.</a:t>
              </a:r>
              <a:endParaRPr sz="900" b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8000925" y="2054233"/>
            <a:ext cx="3333900" cy="1202017"/>
            <a:chOff x="0" y="0"/>
            <a:chExt cx="3333900" cy="1333500"/>
          </a:xfrm>
        </p:grpSpPr>
        <p:sp>
          <p:nvSpPr>
            <p:cNvPr id="201" name="Google Shape;201;p20"/>
            <p:cNvSpPr/>
            <p:nvPr/>
          </p:nvSpPr>
          <p:spPr>
            <a:xfrm>
              <a:off x="0" y="0"/>
              <a:ext cx="3333900" cy="1333500"/>
            </a:xfrm>
            <a:prstGeom prst="roundRect">
              <a:avLst>
                <a:gd name="adj" fmla="val 2857"/>
              </a:avLst>
            </a:prstGeom>
            <a:solidFill>
              <a:srgbClr val="F3F4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142875" y="1428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Asset Growth</a:t>
              </a:r>
              <a:endParaRPr sz="11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YoY % Change in Total Assets</a:t>
              </a:r>
              <a:endParaRPr sz="11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300"/>
                </a:spcAft>
                <a:buNone/>
              </a:pPr>
              <a:r>
                <a:rPr lang="en-US" sz="900" b="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Controls for firm expansion and investment cycles.</a:t>
              </a:r>
              <a:endParaRPr sz="900" b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03" name="Google Shape;203;p20"/>
          <p:cNvSpPr txBox="1"/>
          <p:nvPr/>
        </p:nvSpPr>
        <p:spPr>
          <a:xfrm>
            <a:off x="4783150" y="4840900"/>
            <a:ext cx="6286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Note: For days without a closing price, a bid/ask average was used. To align with monthly sentiment indices, we aggregated daily data into a monthly panel: returns were compounded, volumes summed, and illiquidity ratios were averaged and log-transformed for the analysis.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571500" y="476250"/>
            <a:ext cx="57300" cy="523800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62000" y="476250"/>
            <a:ext cx="106680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Econometric Specifications. Part I</a:t>
            </a:r>
            <a:endParaRPr sz="27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71500" y="1280764"/>
            <a:ext cx="5429400" cy="26247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 cap="flat" cmpd="sng">
            <a:solidFill>
              <a:srgbClr val="7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50825" y="1466243"/>
            <a:ext cx="5048400" cy="35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Model 1: Sector-Specific Interaction</a:t>
            </a:r>
            <a:endParaRPr sz="13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79425" y="1772889"/>
            <a:ext cx="5191200" cy="456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62000" y="1822828"/>
            <a:ext cx="5048400" cy="35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log(ILLIQi,t) = β₀ + β₁(HMIt-1 × Resi) + β₂HMIt-1 + β₃Resi + β₄log(ILLIQi,t-1) + ΓXi,t + δMacrot + εi,t</a:t>
            </a:r>
            <a:endParaRPr sz="1200" b="0">
              <a:solidFill>
                <a:srgbClr val="1E293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79425" y="2357998"/>
            <a:ext cx="5048400" cy="178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Hypothesis (H1): </a:t>
            </a:r>
            <a:r>
              <a:rPr lang="en-US"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Housing sentiment is a unique leading indicator for residential REITs (β₁ ≠ 0) because their underlying assets tie directly to physical housing.</a:t>
            </a:r>
            <a:endParaRPr sz="1200" b="1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Lato"/>
              <a:buChar char="●"/>
            </a:pPr>
            <a:r>
              <a:rPr lang="en-US" sz="12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β₁:</a:t>
            </a:r>
            <a:r>
              <a:rPr lang="en-US" sz="12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Captures the differential impact on the residential group.</a:t>
            </a:r>
            <a:endParaRPr sz="1200" b="1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400"/>
              </a:spcAft>
              <a:buClr>
                <a:srgbClr val="13294B"/>
              </a:buClr>
              <a:buSzPts val="1200"/>
              <a:buFont typeface="Lato"/>
              <a:buChar char="●"/>
            </a:pPr>
            <a:r>
              <a:rPr lang="en-US" sz="12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Controls:</a:t>
            </a:r>
            <a:r>
              <a:rPr lang="en-US" sz="12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AR(1) persistence, Firm-level (Size, Lev, Growth), and Macro (VIX, 10Y Yield).</a:t>
            </a:r>
            <a:endParaRPr sz="1200" b="1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191250" y="1280714"/>
            <a:ext cx="5429400" cy="26247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 cap="flat" cmpd="sng">
            <a:solidFill>
              <a:srgbClr val="7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81750" y="1433897"/>
            <a:ext cx="5048400" cy="306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Model 2: Aggregate Market Model</a:t>
            </a:r>
            <a:endParaRPr sz="13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6381750" y="1740278"/>
            <a:ext cx="5048400" cy="408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81750" y="1740278"/>
            <a:ext cx="5048400" cy="40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log(ILLIQi,t) = α₀ + α₁(HMIt-1) + α₂log(ILLIQi,t-1) + ΓXi,t + δMacrot + εi,t</a:t>
            </a:r>
            <a:endParaRPr sz="1200" b="0">
              <a:solidFill>
                <a:srgbClr val="1E293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381750" y="2354097"/>
            <a:ext cx="5048400" cy="153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Hypothesis (H2): </a:t>
            </a:r>
            <a:r>
              <a:rPr lang="en-US"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HMI acts as a broad leading indicator for the entire REIT sector (α₁ ≠ 0), reflecting systemic capital shifts.</a:t>
            </a:r>
            <a:endParaRPr sz="1200" b="1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Clr>
                <a:srgbClr val="13294B"/>
              </a:buClr>
              <a:buSzPts val="1200"/>
              <a:buFont typeface="Lato"/>
              <a:buChar char="●"/>
            </a:pPr>
            <a:r>
              <a:rPr lang="en-US" sz="12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α₁:</a:t>
            </a:r>
            <a:r>
              <a:rPr lang="en-US" sz="12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Captures the systemic impact of housing sentiment across all property types.</a:t>
            </a:r>
            <a:endParaRPr sz="1200" b="1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400"/>
              </a:spcAft>
              <a:buClr>
                <a:srgbClr val="13294B"/>
              </a:buClr>
              <a:buSzPts val="1200"/>
              <a:buFont typeface="Lato"/>
              <a:buChar char="●"/>
            </a:pPr>
            <a:r>
              <a:rPr lang="en-US" sz="1200" b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Simplification:</a:t>
            </a:r>
            <a:r>
              <a:rPr lang="en-US" sz="1200" b="1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Interaction and dummy terms are dropped to estimate the overall market effect.</a:t>
            </a:r>
            <a:endParaRPr sz="1200" b="1">
              <a:solidFill>
                <a:srgbClr val="13294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19" name="Google Shape;219;p21"/>
          <p:cNvGrpSpPr/>
          <p:nvPr/>
        </p:nvGrpSpPr>
        <p:grpSpPr>
          <a:xfrm>
            <a:off x="571500" y="4091408"/>
            <a:ext cx="11049000" cy="1202175"/>
            <a:chOff x="571500" y="3819450"/>
            <a:chExt cx="11049000" cy="1202175"/>
          </a:xfrm>
        </p:grpSpPr>
        <p:sp>
          <p:nvSpPr>
            <p:cNvPr id="220" name="Google Shape;220;p21"/>
            <p:cNvSpPr/>
            <p:nvPr/>
          </p:nvSpPr>
          <p:spPr>
            <a:xfrm>
              <a:off x="571500" y="3819450"/>
              <a:ext cx="11049000" cy="1202100"/>
            </a:xfrm>
            <a:prstGeom prst="roundRect">
              <a:avLst>
                <a:gd name="adj" fmla="val 444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762000" y="3962325"/>
              <a:ext cx="10668000" cy="1059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Statistical Robustness &amp; Inference</a:t>
              </a:r>
              <a:endParaRPr sz="13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Clustered Standard Errors:</a:t>
              </a:r>
              <a:r>
                <a:rPr lang="en-US" sz="1100" b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We group errors at the ticker level to account for arbitrary correlation within firms over time (serial correlation) and heteroskedasticity.</a:t>
              </a:r>
              <a:endParaRPr sz="11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Granger Causality:</a:t>
              </a:r>
              <a:r>
                <a:rPr lang="en-US" sz="1100" b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A split-sample check (residential vs. non-residential) confirms that the HMI signal contains unique predictive information, ensuring it is not a proxy for general market liquidity.</a:t>
              </a:r>
              <a:endParaRPr sz="11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22" name="Google Shape;222;p21"/>
          <p:cNvSpPr txBox="1"/>
          <p:nvPr/>
        </p:nvSpPr>
        <p:spPr>
          <a:xfrm>
            <a:off x="571500" y="6286500"/>
            <a:ext cx="11049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Note: Pooled OLS framework with Clustered Standard Errors. Control variables (Size, Leverage, Asset Growth) recorded annually.</a:t>
            </a:r>
            <a:endParaRPr sz="1000" b="0" i="1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2"/>
          <p:cNvGrpSpPr/>
          <p:nvPr/>
        </p:nvGrpSpPr>
        <p:grpSpPr>
          <a:xfrm>
            <a:off x="571500" y="571500"/>
            <a:ext cx="10858500" cy="523800"/>
            <a:chOff x="571500" y="571500"/>
            <a:chExt cx="10858500" cy="523800"/>
          </a:xfrm>
        </p:grpSpPr>
        <p:sp>
          <p:nvSpPr>
            <p:cNvPr id="227" name="Google Shape;227;p22"/>
            <p:cNvSpPr/>
            <p:nvPr/>
          </p:nvSpPr>
          <p:spPr>
            <a:xfrm>
              <a:off x="571500" y="571500"/>
              <a:ext cx="57300" cy="523800"/>
            </a:xfrm>
            <a:prstGeom prst="rect">
              <a:avLst/>
            </a:prstGeom>
            <a:solidFill>
              <a:srgbClr val="7BAFD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762000" y="571500"/>
              <a:ext cx="10668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Econometric Specifications. Part II</a:t>
              </a:r>
              <a:endParaRPr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29" name="Google Shape;229;p22"/>
          <p:cNvSpPr txBox="1"/>
          <p:nvPr/>
        </p:nvSpPr>
        <p:spPr>
          <a:xfrm>
            <a:off x="762000" y="123825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Impulse Response Function (IRF) &amp; Dynamics</a:t>
            </a:r>
            <a:endParaRPr sz="18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0" name="Google Shape;230;p22"/>
          <p:cNvGrpSpPr/>
          <p:nvPr/>
        </p:nvGrpSpPr>
        <p:grpSpPr>
          <a:xfrm>
            <a:off x="571500" y="1809750"/>
            <a:ext cx="3524400" cy="2667000"/>
            <a:chOff x="571500" y="1809750"/>
            <a:chExt cx="3524400" cy="2667000"/>
          </a:xfrm>
        </p:grpSpPr>
        <p:sp>
          <p:nvSpPr>
            <p:cNvPr id="231" name="Google Shape;231;p22"/>
            <p:cNvSpPr/>
            <p:nvPr/>
          </p:nvSpPr>
          <p:spPr>
            <a:xfrm>
              <a:off x="571500" y="1809750"/>
              <a:ext cx="35244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762000" y="2000250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Simulation Method</a:t>
              </a:r>
              <a:endParaRPr sz="14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762000" y="2428875"/>
              <a:ext cx="3143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Deterministic simulation of a 1 S.D. positive shock to HMI at t=1.</a:t>
              </a:r>
              <a:endParaRPr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Traces propagation over a 12-month horizon using split-sample OLS coefficients.</a:t>
              </a:r>
              <a:endParaRPr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4" name="Google Shape;234;p22"/>
          <p:cNvGrpSpPr/>
          <p:nvPr/>
        </p:nvGrpSpPr>
        <p:grpSpPr>
          <a:xfrm>
            <a:off x="4333875" y="1809750"/>
            <a:ext cx="3524400" cy="2667000"/>
            <a:chOff x="4333875" y="1809750"/>
            <a:chExt cx="3524400" cy="2667000"/>
          </a:xfrm>
        </p:grpSpPr>
        <p:sp>
          <p:nvSpPr>
            <p:cNvPr id="235" name="Google Shape;235;p22"/>
            <p:cNvSpPr/>
            <p:nvPr/>
          </p:nvSpPr>
          <p:spPr>
            <a:xfrm>
              <a:off x="4333875" y="1809750"/>
              <a:ext cx="35244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4524375" y="2000250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Persistence &amp; Decay</a:t>
              </a:r>
              <a:endParaRPr sz="14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22"/>
            <p:cNvSpPr txBox="1"/>
            <p:nvPr/>
          </p:nvSpPr>
          <p:spPr>
            <a:xfrm>
              <a:off x="4524375" y="2428875"/>
              <a:ext cx="3143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Initial impact decays geometrically via the estimated autoregressive coefficient (α̂AR(1)) for each sector.</a:t>
              </a:r>
              <a:endParaRPr sz="1200" b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8" name="Google Shape;238;p22"/>
          <p:cNvGrpSpPr/>
          <p:nvPr/>
        </p:nvGrpSpPr>
        <p:grpSpPr>
          <a:xfrm>
            <a:off x="8096250" y="1809750"/>
            <a:ext cx="3524400" cy="2667000"/>
            <a:chOff x="8096250" y="1809750"/>
            <a:chExt cx="3524400" cy="2667000"/>
          </a:xfrm>
        </p:grpSpPr>
        <p:sp>
          <p:nvSpPr>
            <p:cNvPr id="239" name="Google Shape;239;p22"/>
            <p:cNvSpPr/>
            <p:nvPr/>
          </p:nvSpPr>
          <p:spPr>
            <a:xfrm>
              <a:off x="8096250" y="1809750"/>
              <a:ext cx="3524400" cy="2667000"/>
            </a:xfrm>
            <a:prstGeom prst="roundRect">
              <a:avLst>
                <a:gd name="adj" fmla="val 2857"/>
              </a:avLst>
            </a:prstGeom>
            <a:solidFill>
              <a:srgbClr val="1329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2"/>
            <p:cNvSpPr txBox="1"/>
            <p:nvPr/>
          </p:nvSpPr>
          <p:spPr>
            <a:xfrm>
              <a:off x="8286750" y="2000250"/>
              <a:ext cx="3143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7BAFD4"/>
                  </a:solidFill>
                  <a:latin typeface="Lato"/>
                  <a:ea typeface="Lato"/>
                  <a:cs typeface="Lato"/>
                  <a:sym typeface="Lato"/>
                </a:rPr>
                <a:t>Recovery Speed Measure</a:t>
              </a:r>
              <a:endParaRPr sz="1000" b="1">
                <a:solidFill>
                  <a:srgbClr val="7BAFD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8286750" y="2476500"/>
              <a:ext cx="3143400" cy="666900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2"/>
            <p:cNvSpPr txBox="1"/>
            <p:nvPr/>
          </p:nvSpPr>
          <p:spPr>
            <a:xfrm>
              <a:off x="8286750" y="2476500"/>
              <a:ext cx="3143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Half-Life = -ln(2) / ln(α̂AR(1))</a:t>
              </a:r>
              <a:endPara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8286750" y="3333750"/>
              <a:ext cx="3143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2E8F0"/>
                  </a:solidFill>
                  <a:latin typeface="Lato"/>
                  <a:ea typeface="Lato"/>
                  <a:cs typeface="Lato"/>
                  <a:sym typeface="Lato"/>
                </a:rPr>
                <a:t>Number of months for the initial liquidity shock to revert to 50% of its original magnitude.</a:t>
              </a:r>
              <a:endParaRPr sz="1100" b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44" name="Google Shape;244;p22"/>
          <p:cNvSpPr/>
          <p:nvPr/>
        </p:nvSpPr>
        <p:spPr>
          <a:xfrm>
            <a:off x="571500" y="6191250"/>
            <a:ext cx="11049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762000" y="3005137"/>
            <a:ext cx="49339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rPr>
              <a:t>-0.0010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762000" y="3862387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INTERACTION COEFFICIENT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762000" y="4186237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p = 0.675 (Insignificant)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286500" y="283845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Key Interpretation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286500" y="330517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We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fail to reject</a:t>
            </a: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the null hypothesis regarding sector-specific sensitivity.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286500" y="406717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HMI does not </a:t>
            </a:r>
            <a:r>
              <a:rPr lang="en-US" sz="1500" b="0" i="1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differentially</a:t>
            </a: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predict liquidity dry-ups in residential vs non-residential REITs. The signal appears systemic.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Results. </a:t>
            </a:r>
            <a:r>
              <a:rPr lang="en-US" sz="27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Model 1: Sector-Specific Interaction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3" name="Google Shape;263;p24"/>
          <p:cNvGraphicFramePr/>
          <p:nvPr/>
        </p:nvGraphicFramePr>
        <p:xfrm>
          <a:off x="571500" y="2319337"/>
          <a:ext cx="11048975" cy="2314600"/>
        </p:xfrm>
        <a:graphic>
          <a:graphicData uri="http://schemas.openxmlformats.org/drawingml/2006/table">
            <a:tbl>
              <a:tblPr firstRow="1" bandRow="1">
                <a:noFill/>
                <a:tableStyleId>{8D7EEC78-3C46-466A-AEB7-87BE7430BD34}</a:tableStyleId>
              </a:tblPr>
              <a:tblGrid>
                <a:gridCol w="325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Coefficient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P-Value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Interpretation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Lagged HMI (30-day)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0.0031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0.01 ***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Robust Leading Indicator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Lagged Illiquidity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0.7773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0.01 ***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persistence (Stickiness)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Firm Size (Log Assets)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-0.2157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0.01 ***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Scale improves market depth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4" name="Google Shape;264;p24"/>
          <p:cNvSpPr txBox="1"/>
          <p:nvPr/>
        </p:nvSpPr>
        <p:spPr>
          <a:xfrm>
            <a:off x="571500" y="48720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3294B"/>
                </a:solidFill>
                <a:latin typeface="Lato"/>
                <a:ea typeface="Lato"/>
                <a:cs typeface="Lato"/>
                <a:sym typeface="Lato"/>
              </a:rPr>
              <a:t>HMI serves as a critical 30-day early warning system for the broader REIT sector.</a:t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571500" y="3457575"/>
            <a:ext cx="32593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3830835" y="3457575"/>
            <a:ext cx="19286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5759499" y="3457575"/>
            <a:ext cx="1719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7478762" y="3457575"/>
            <a:ext cx="4141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71500" y="4038600"/>
            <a:ext cx="32593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830835" y="4038600"/>
            <a:ext cx="19286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5759499" y="4038600"/>
            <a:ext cx="1719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7478762" y="4038600"/>
            <a:ext cx="4141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571500" y="4619625"/>
            <a:ext cx="32593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830835" y="4619625"/>
            <a:ext cx="19286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5759499" y="4619625"/>
            <a:ext cx="17192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7478762" y="4619625"/>
            <a:ext cx="4141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Results. </a:t>
            </a:r>
            <a:r>
              <a:rPr lang="en-US" sz="27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Model 2: Aggregate Market Success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500" y="2981175"/>
            <a:ext cx="533400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6853625" y="1807563"/>
            <a:ext cx="4946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4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"So What?"</a:t>
            </a:r>
            <a:endParaRPr sz="1600"/>
          </a:p>
        </p:txBody>
      </p:sp>
      <p:sp>
        <p:nvSpPr>
          <p:cNvPr id="286" name="Google Shape;286;p25"/>
          <p:cNvSpPr txBox="1"/>
          <p:nvPr/>
        </p:nvSpPr>
        <p:spPr>
          <a:xfrm>
            <a:off x="6853625" y="2165854"/>
            <a:ext cx="5095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While the </a:t>
            </a:r>
            <a:r>
              <a:rPr lang="en-US" sz="1500" b="0" i="1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signal</a:t>
            </a: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is systemic, the </a:t>
            </a: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recovery speed</a:t>
            </a: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is asset-specific.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945425" y="3125625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Non-Residential (3.8 mo half-life)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762000" y="571500"/>
            <a:ext cx="1140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Results. </a:t>
            </a:r>
            <a:r>
              <a:rPr lang="en-US" sz="27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Impulse Response: Structural Recovery Gaps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5" title="irf_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225" y="1473175"/>
            <a:ext cx="6557050" cy="39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6853625" y="3429000"/>
            <a:ext cx="4051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Liquidity is "stickier"—dry-ups linger significantly longer into the fiscal year.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762000" y="1928812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Residential Dynamics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571500" y="1928812"/>
            <a:ext cx="57150" cy="523875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571500" y="2928937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Assets directly tied to physical housing turnover. High fluidity allows for rapid 1.5-month recovery from liquidity shocks.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571500" y="416718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HMI peaks signal capital rotation out of public equities into direct development.</a:t>
            </a:r>
            <a:endParaRPr/>
          </a:p>
        </p:txBody>
      </p:sp>
      <p:pic>
        <p:nvPicPr>
          <p:cNvPr id="301" name="Google Shape;30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7"/>
          <p:cNvSpPr txBox="1"/>
          <p:nvPr/>
        </p:nvSpPr>
        <p:spPr>
          <a:xfrm>
            <a:off x="6858000" y="1928812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Institutional Stickiness</a:t>
            </a:r>
            <a:endParaRPr/>
          </a:p>
        </p:txBody>
      </p:sp>
      <p:sp>
        <p:nvSpPr>
          <p:cNvPr id="309" name="Google Shape;309;p27"/>
          <p:cNvSpPr/>
          <p:nvPr/>
        </p:nvSpPr>
        <p:spPr>
          <a:xfrm>
            <a:off x="6667500" y="1928812"/>
            <a:ext cx="57150" cy="523875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6667500" y="2928937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Non-residential sectors (Data Centers/Logistics) face a 3.8-month digestion period. Their institutional nature causes liquidity to remain constrained for longer.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6667500" y="416718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Investors must account for </a:t>
            </a:r>
            <a:r>
              <a:rPr lang="en-US" sz="1500" b="0" i="1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duration</a:t>
            </a: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of droughts, not just magnitude.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" name="Google Shape;31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28"/>
          <p:cNvGrpSpPr/>
          <p:nvPr/>
        </p:nvGrpSpPr>
        <p:grpSpPr>
          <a:xfrm>
            <a:off x="571500" y="571500"/>
            <a:ext cx="11049000" cy="571500"/>
            <a:chOff x="0" y="0"/>
            <a:chExt cx="11049000" cy="571500"/>
          </a:xfrm>
        </p:grpSpPr>
        <p:sp>
          <p:nvSpPr>
            <p:cNvPr id="318" name="Google Shape;318;p28"/>
            <p:cNvSpPr/>
            <p:nvPr/>
          </p:nvSpPr>
          <p:spPr>
            <a:xfrm>
              <a:off x="0" y="0"/>
              <a:ext cx="57300" cy="523800"/>
            </a:xfrm>
            <a:prstGeom prst="rect">
              <a:avLst/>
            </a:prstGeom>
            <a:solidFill>
              <a:srgbClr val="7BAFD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8"/>
            <p:cNvSpPr txBox="1"/>
            <p:nvPr/>
          </p:nvSpPr>
          <p:spPr>
            <a:xfrm>
              <a:off x="190500" y="0"/>
              <a:ext cx="1085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32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Conclusions</a:t>
              </a:r>
              <a:endParaRPr sz="32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0" name="Google Shape;320;p28"/>
          <p:cNvGrpSpPr/>
          <p:nvPr/>
        </p:nvGrpSpPr>
        <p:grpSpPr>
          <a:xfrm>
            <a:off x="571500" y="1714500"/>
            <a:ext cx="3429000" cy="4000500"/>
            <a:chOff x="0" y="0"/>
            <a:chExt cx="3429000" cy="4000500"/>
          </a:xfrm>
        </p:grpSpPr>
        <p:sp>
          <p:nvSpPr>
            <p:cNvPr id="321" name="Google Shape;321;p28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8"/>
            <p:cNvSpPr txBox="1"/>
            <p:nvPr/>
          </p:nvSpPr>
          <p:spPr>
            <a:xfrm>
              <a:off x="190500" y="19050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4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24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3" name="Google Shape;323;p28"/>
            <p:cNvSpPr txBox="1"/>
            <p:nvPr/>
          </p:nvSpPr>
          <p:spPr>
            <a:xfrm>
              <a:off x="190500" y="666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8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Null Hypothesis</a:t>
              </a:r>
              <a:endParaRPr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28"/>
            <p:cNvSpPr txBox="1"/>
            <p:nvPr/>
          </p:nvSpPr>
          <p:spPr>
            <a:xfrm>
              <a:off x="190500" y="1190625"/>
              <a:ext cx="3048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Fail to reject Null Hypothesis regarding sector-specific sensitivity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90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HMI does not differentially predict liquidity “dry-ups” between residential and broader REITs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25" name="Google Shape;325;p28"/>
          <p:cNvGrpSpPr/>
          <p:nvPr/>
        </p:nvGrpSpPr>
        <p:grpSpPr>
          <a:xfrm>
            <a:off x="4381500" y="1714500"/>
            <a:ext cx="3429000" cy="4000500"/>
            <a:chOff x="0" y="0"/>
            <a:chExt cx="3429000" cy="4000500"/>
          </a:xfrm>
        </p:grpSpPr>
        <p:sp>
          <p:nvSpPr>
            <p:cNvPr id="326" name="Google Shape;326;p28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8"/>
            <p:cNvSpPr txBox="1"/>
            <p:nvPr/>
          </p:nvSpPr>
          <p:spPr>
            <a:xfrm>
              <a:off x="190500" y="19050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4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24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8" name="Google Shape;328;p28"/>
            <p:cNvSpPr txBox="1"/>
            <p:nvPr/>
          </p:nvSpPr>
          <p:spPr>
            <a:xfrm>
              <a:off x="190500" y="666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8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Secondary Conclusions</a:t>
              </a:r>
              <a:endParaRPr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9" name="Google Shape;329;p28"/>
            <p:cNvSpPr txBox="1"/>
            <p:nvPr/>
          </p:nvSpPr>
          <p:spPr>
            <a:xfrm>
              <a:off x="190500" y="1116325"/>
              <a:ext cx="3048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HMI serves as a powerful macro-indicator for the broader real estate equity market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90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Critical 30-day early warning system for tracking liquidity shifts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0" name="Google Shape;330;p28"/>
          <p:cNvGrpSpPr/>
          <p:nvPr/>
        </p:nvGrpSpPr>
        <p:grpSpPr>
          <a:xfrm>
            <a:off x="8191500" y="1714500"/>
            <a:ext cx="3429000" cy="4000500"/>
            <a:chOff x="0" y="0"/>
            <a:chExt cx="3429000" cy="4000500"/>
          </a:xfrm>
        </p:grpSpPr>
        <p:sp>
          <p:nvSpPr>
            <p:cNvPr id="331" name="Google Shape;331;p28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8"/>
            <p:cNvSpPr txBox="1"/>
            <p:nvPr/>
          </p:nvSpPr>
          <p:spPr>
            <a:xfrm>
              <a:off x="190500" y="19050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400" b="1">
                  <a:solidFill>
                    <a:srgbClr val="7BAFD4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24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3" name="Google Shape;333;p28"/>
            <p:cNvSpPr txBox="1"/>
            <p:nvPr/>
          </p:nvSpPr>
          <p:spPr>
            <a:xfrm>
              <a:off x="190500" y="666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800" b="1">
                  <a:solidFill>
                    <a:srgbClr val="13294B"/>
                  </a:solidFill>
                  <a:latin typeface="Poppins"/>
                  <a:ea typeface="Poppins"/>
                  <a:cs typeface="Poppins"/>
                  <a:sym typeface="Poppins"/>
                </a:rPr>
                <a:t>Impulse Response</a:t>
              </a:r>
              <a:endParaRPr sz="18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28"/>
            <p:cNvSpPr txBox="1"/>
            <p:nvPr/>
          </p:nvSpPr>
          <p:spPr>
            <a:xfrm>
              <a:off x="190500" y="1190625"/>
              <a:ext cx="3048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Structural difference in recovery times from housing market shocks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900"/>
                </a:spcAft>
                <a:buClr>
                  <a:srgbClr val="333333"/>
                </a:buClr>
                <a:buSzPts val="1400"/>
                <a:buFont typeface="Lato"/>
                <a:buChar char="●"/>
              </a:pPr>
              <a:r>
                <a:rPr lang="en-US" sz="1400" b="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Investors must account for magnitude AND duration of liquidity constraints</a:t>
              </a:r>
              <a:endParaRPr sz="14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35" name="Google Shape;33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72225"/>
            <a:ext cx="11049000" cy="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9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7BAF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762000" y="571500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3294B"/>
                </a:solidFill>
                <a:latin typeface="Poppins"/>
                <a:ea typeface="Poppins"/>
                <a:cs typeface="Poppins"/>
                <a:sym typeface="Poppins"/>
              </a:rPr>
              <a:t>Limitations and Future Study</a:t>
            </a:r>
            <a:endParaRPr sz="3200" b="1">
              <a:solidFill>
                <a:srgbClr val="1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6286500" y="1714500"/>
            <a:ext cx="5334000" cy="317940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572250" y="2000250"/>
            <a:ext cx="4762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rPr>
              <a:t>Future Study</a:t>
            </a:r>
            <a:endParaRPr sz="2700" b="1">
              <a:solidFill>
                <a:srgbClr val="7BAFD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6572250" y="2293225"/>
            <a:ext cx="4762500" cy="21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lang="en-US" sz="18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Broader firm sample</a:t>
            </a:r>
            <a:endParaRPr sz="18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lang="en-US" sz="18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Isolation of HMI during extreme market stress</a:t>
            </a:r>
            <a:endParaRPr sz="18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lang="en-US" sz="18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Longer lag structure</a:t>
            </a:r>
            <a:endParaRPr sz="18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5" name="Google Shape;34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477000"/>
            <a:ext cx="110490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/>
          <p:nvPr/>
        </p:nvSpPr>
        <p:spPr>
          <a:xfrm>
            <a:off x="571500" y="1714500"/>
            <a:ext cx="5334000" cy="317940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857250" y="2000250"/>
            <a:ext cx="4762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7BAFD4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  <a:endParaRPr sz="2700" b="1">
              <a:solidFill>
                <a:srgbClr val="7BAFD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857250" y="2476650"/>
            <a:ext cx="4762500" cy="21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lang="en-US" sz="18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Selection bias</a:t>
            </a:r>
            <a:endParaRPr sz="18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lang="en-US" sz="18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Omitted variable bias</a:t>
            </a:r>
            <a:endParaRPr sz="18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lang="en-US" sz="18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Residual endogeneity</a:t>
            </a:r>
            <a:endParaRPr sz="18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800"/>
              <a:buFont typeface="Lato"/>
              <a:buChar char="●"/>
            </a:pPr>
            <a:r>
              <a:rPr lang="en-US" sz="1800" b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Framework cannot control for unobserved firm-level heterogeneity</a:t>
            </a:r>
            <a:endParaRPr sz="1800" b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Microsoft Office PowerPoint</Application>
  <PresentationFormat>Widescreen</PresentationFormat>
  <Paragraphs>164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Poppins</vt:lpstr>
      <vt:lpstr>Calibri</vt:lpstr>
      <vt:lpstr>Cambria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Voloshyn, Davyd</cp:lastModifiedBy>
  <cp:revision>1</cp:revision>
  <dcterms:modified xsi:type="dcterms:W3CDTF">2026-05-03T19:40:35Z</dcterms:modified>
</cp:coreProperties>
</file>